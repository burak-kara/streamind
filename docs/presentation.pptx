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72" r:id="rId24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frame this as a Grand Challenge submission, not a general research talk — the whole design is shaped by one external scoring function, which the next few slides will make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challenge bridges live audio reception and structured LLM inference — bring your own pipeline that ingests a live RTP stream and progressively emits summaries, not a batch transcription tool. 300-second windows on a 30-minute recording yield 6 progressive summary chunks, which is the unit everything downstream gets scored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latency term is gated on a quality floor — you cannot game speed by emitting garbage instantly. This single design choice shapes every architectural decision in the rest of the talk: quality first, then squeeze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separate hard constraints stack here — a systems constraint (real-time, overlapping, GPU-bounded) and a tooling constraint (building on a beta framework). Worth naming both since it explains some of the defensive engineering choices later (fallback paths, guarantees).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Juturna's node graph maps directly onto the challenge's staged pipeline description — that's essentially why the reference implementation and every submission looks like a chain of nodes. It's a fairly thin abstraction, which is part of why it works for fast prototyping under a deadline.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bonus exists because Janus demonstrates the real version of audio reception — actual WebRTC negotiation from a live client, not a toy pipe. Both Janus and Juturna come from Meetecho, so this also showcases their intended combined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centerpiece diagram of the talk — walk left to right, naming each node's job in one clause. ASR/hallucination-filter/novel-extractor protect B_i, keyword logic inside the summarizer targets K_i, and the summarizer's prompt/quantization choices target L_i.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this, roughly a fifth of every context window handed to the summarizer would just be repeated speech — directly hurting conciseness and coherence, both B_i sub-scores.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the limit here — this is a format guarantee, not a quality guarantee. Under a weak summarizer (Llama-3.1-8B) two windows still scored K_i = -6 because the fallback keywords inherited low relevance from an already-poor summary. Worth stating plainly since it's an honest constraint, not a flaw to hide.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punchline of the solution section — quality didn't have to be traded for speed here; the three contributions compound so that a sub-second pipeline still scores near-ceiling on quality. Segue into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this number, then immediately show it's not a one-off by pointing at the per-window table — quality and keyword score stay essentially flat across the whole 25-minute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and prompt were developed against podcast audio; this is the evidence that it generalizes to a genuinely different domain (structured technical meetings) without retuning.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Counterintuitive finding worth pausing on — at 300-second summarization granularity, transcription accuracy isn't the bottleneck; small ASR errors get smoothed out by the summarizer. Submission still ships large-v3-turbo for non-English robustness, which this two-episode English-only comparison doesn't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Bigger models don't win under this scoring function — quality plateaus quickly across the Qwen family while latency keeps climbing, so the reward curve favors the smallest model that still clears the quality floor. Llama-3.1-8B's large variance (episode-to-episode B_i swinging 13→24) is a robustness gap in that model, not in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these plainly and don't soften them — they're exactly what both reviewers flagged, and the paper already commits to them as future work (threats to validity). Owning this directly builds more credibility in Q&amp;A than skipping past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generalization result, not just the headline score — it's the strongest signal that this isn't overfit to one dataset.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Since B_i and K_i come from an LLM judge, not a fixed reference metric, the methodology itself needs to be defensible — this is the guardrail section before the numbers. Two independent sources of noise are controlled separately: within-judge stochasticity (handled by ≥3 pipeline runs per config) and between-judge bias (handled by scoring with three model families unrelated to the summarizer, then reporting their spread, not just their mean). Be upfront in Q&amp;A: this panel is a proxy for the hidden challenge judge — where all three agree, scores are more trustworthy, but they remain directional, not absolute.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595757"/>
                </a:solidFill>
                <a:latin typeface="Calibri"/>
              </a:rPr>
              <a:t>A Real-Time Juturna Pipeline for Live Audio
Summarization and Keyword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1600" b="1">
                <a:solidFill>
                  <a:srgbClr val="ED6D00"/>
                </a:solidFill>
                <a:latin typeface="Calibri"/>
              </a:rPr>
              <a:t>STREAMIND — Streaming Transcription and Real-Time Extraction for AI Meeting INtelligence Distillation</a:t>
            </a:r>
          </a:p>
          <a:p>
            <a:pPr algn="ctr">
              <a:spcAft>
                <a:spcPts val="16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Mervegul Parlak · Burak Kara · Alperen F. Zengin · Ali C. Begen</a:t>
            </a:r>
          </a:p>
          <a:p>
            <a:pPr algn="ctr">
              <a:spcAft>
                <a:spcPts val="16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Ozyegin University, Istanbul, Turkiye  ·  Rennes, France</a:t>
            </a:r>
          </a:p>
          <a:p>
            <a:pPr algn="ctr">
              <a:spcAft>
                <a:spcPts val="1600"/>
              </a:spcAft>
            </a:pPr>
            <a:r>
              <a:rPr sz="1700" b="1">
                <a:solidFill>
                  <a:srgbClr val="30B5C5"/>
                </a:solidFill>
                <a:latin typeface="Calibri"/>
              </a:rPr>
              <a:t>IEEE MMSP 2026 Grand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The Challenge — Problem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Goal: live audio in → structured summary + 3 keywords out, in real time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Reference pipeline: WebRTC/RTP reception → incremental ASR → novel-chunk extraction → 300s window aggregation → summarization → transmission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Evaluation datasets: </a:t>
            </a:r>
            <a:r>
              <a:rPr sz="1900" b="1">
                <a:solidFill>
                  <a:srgbClr val="555555"/>
                </a:solidFill>
                <a:latin typeface="Calibri"/>
              </a:rPr>
              <a:t>Rev16</a:t>
            </a:r>
            <a:r>
              <a:rPr sz="1900" b="0">
                <a:solidFill>
                  <a:srgbClr val="555555"/>
                </a:solidFill>
                <a:latin typeface="Calibri"/>
              </a:rPr>
              <a:t> (30 podcast episodes) and </a:t>
            </a:r>
            <a:r>
              <a:rPr sz="1900" b="1">
                <a:solidFill>
                  <a:srgbClr val="555555"/>
                </a:solidFill>
                <a:latin typeface="Calibri"/>
              </a:rPr>
              <a:t>IETF125</a:t>
            </a:r>
            <a:r>
              <a:rPr sz="1900" b="0">
                <a:solidFill>
                  <a:srgbClr val="555555"/>
                </a:solidFill>
                <a:latin typeface="Calibri"/>
              </a:rPr>
              <a:t> (8 live conference sessions)</a:t>
            </a:r>
          </a:p>
        </p:txBody>
      </p:sp>
      <p:pic>
        <p:nvPicPr>
          <p:cNvPr id="5" name="Picture 4" descr="challeng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60827"/>
            <a:ext cx="4754880" cy="39764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The Challenge — Scoring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1">
                <a:solidFill>
                  <a:srgbClr val="555555"/>
                </a:solidFill>
                <a:latin typeface="Calibri"/>
              </a:rPr>
              <a:t>C_i = B_i + K_i + L_i</a:t>
            </a:r>
            <a:r>
              <a:rPr sz="1900" b="0">
                <a:solidFill>
                  <a:srgbClr val="555555"/>
                </a:solidFill>
                <a:latin typeface="Calibri"/>
              </a:rPr>
              <a:t> per chunk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B_i ∈ [5,25] — 5-dimension LLM-judged quality (factual consistency, relevance, coherence, fluency, conciseness)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K_i = 2(N_rel − N_irrel) ∈ [-6,6] — keyword relevance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L_i = 10·e^(−0.5·proc_i), </a:t>
            </a:r>
            <a:r>
              <a:rPr sz="1900" b="1">
                <a:solidFill>
                  <a:srgbClr val="555555"/>
                </a:solidFill>
                <a:latin typeface="Calibri"/>
              </a:rPr>
              <a:t>only if B_i ≥ 10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Janus WebRTC bonus: flat </a:t>
            </a:r>
            <a:r>
              <a:rPr sz="1900" b="1">
                <a:solidFill>
                  <a:srgbClr val="555555"/>
                </a:solidFill>
                <a:latin typeface="Calibri"/>
              </a:rPr>
              <a:t>+4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Final score = average chunk score per source, then min-max normalized across submissions</a:t>
            </a:r>
          </a:p>
        </p:txBody>
      </p:sp>
      <p:pic>
        <p:nvPicPr>
          <p:cNvPr id="5" name="Picture 4" descr="scorin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96019"/>
            <a:ext cx="4754880" cy="21060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Why This Is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Streaming, not batch: overlapping ASR chunks need deduplication before they reach the summarizer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Fixed 300s windows required to produce progressive (not just final) output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Single-GPU ceiling: RTX Pro 4500, 32GB, at eval time — ASR + LLM must co-reside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Juturna itself is a young framework (1.0-beta) — this challenge also stress-tests the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Background — Juturna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Meetecho's open-source real-time AI pipeline library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Node-based, message-driven, async/threaded architecture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Three node roles sharing one abstraction: </a:t>
            </a:r>
            <a:r>
              <a:rPr sz="2100" b="1">
                <a:solidFill>
                  <a:srgbClr val="555555"/>
                </a:solidFill>
                <a:latin typeface="Calibri"/>
              </a:rPr>
              <a:t>source / proc / sink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Each node: a typed message transformer with a defined lifecycle (configure → warmup → start → stop → destroy)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Background — Janus WebRTC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Real WebRTC ingestion (ICE/DTLS/SRTP negotiation, live conferencing audio)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Contrast: challenge baseline uses ffmpeg-simulated RTP (a file replayed over UDP, no real negotiation)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Janus's RTP-forward capability feeds Juturna's audio_rtp source node directly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This is why adopting Janus earns the challenge's </a:t>
            </a:r>
            <a:r>
              <a:rPr sz="2100" b="1">
                <a:solidFill>
                  <a:srgbClr val="555555"/>
                </a:solidFill>
                <a:latin typeface="Calibri"/>
              </a:rPr>
              <a:t>+4 bonus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Solution —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8-node Juturna pipeline, one node per stage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audio_rtp → audio_chunker → transcriber_whisper → hallucination_filter → novel_extractor → window_aggregator → summarizer_vllm → result_transmitter</a:t>
            </a:r>
          </a:p>
        </p:txBody>
      </p:sp>
      <p:pic>
        <p:nvPicPr>
          <p:cNvPr id="5" name="Picture 4" descr="pipelin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90530"/>
            <a:ext cx="11094415" cy="25458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Solution — Streaming Chunk Deduplication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Problem: 5s audio chunks with 1s overlap → duplicated transcript text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Greedy suffix-prefix match, 10 words down to 1, first exact match wins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SequenceMatcher fallback (similarity ≥ 0.8) to absorb ASR variation across the overlap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Removes </a:t>
            </a:r>
            <a:r>
              <a:rPr sz="2100" b="1">
                <a:solidFill>
                  <a:srgbClr val="555555"/>
                </a:solidFill>
                <a:latin typeface="Calibri"/>
              </a:rPr>
              <a:t>~20%</a:t>
            </a:r>
            <a:r>
              <a:rPr sz="2100" b="0">
                <a:solidFill>
                  <a:srgbClr val="555555"/>
                </a:solidFill>
                <a:latin typeface="Calibri"/>
              </a:rPr>
              <a:t> redundant text per 300s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Solution — Keyword 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Problem: challenge requires exactly 3 keywords; raw LLM output is inconsistent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Strip banned generic terms → dedupe (case-insensitive) → backfill from transcript token frequency → fallback terms as last resort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Guarantees the 3-keyword </a:t>
            </a:r>
            <a:r>
              <a:rPr sz="2100" b="1">
                <a:solidFill>
                  <a:srgbClr val="555555"/>
                </a:solidFill>
                <a:latin typeface="Calibri"/>
              </a:rPr>
              <a:t>format</a:t>
            </a:r>
            <a:r>
              <a:rPr sz="2100" b="0">
                <a:solidFill>
                  <a:srgbClr val="555555"/>
                </a:solidFill>
                <a:latin typeface="Calibri"/>
              </a:rPr>
              <a:t> — does </a:t>
            </a:r>
            <a:r>
              <a:rPr sz="2100" b="1">
                <a:solidFill>
                  <a:srgbClr val="555555"/>
                </a:solidFill>
                <a:latin typeface="Calibri"/>
              </a:rPr>
              <a:t>not</a:t>
            </a:r>
            <a:r>
              <a:rPr sz="2100" b="0">
                <a:solidFill>
                  <a:srgbClr val="555555"/>
                </a:solidFill>
                <a:latin typeface="Calibri"/>
              </a:rPr>
              <a:t> guarantee positive K_i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Solution — Quality-Gated Latency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Prompt engineering + enable_thinking=False (thinking-mode suppression) + int4-AWQ quantization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Result: B_i held above 23/25 while average processing time is </a:t>
            </a:r>
            <a:r>
              <a:rPr sz="2100" b="1">
                <a:solidFill>
                  <a:srgbClr val="555555"/>
                </a:solidFill>
                <a:latin typeface="Calibri"/>
              </a:rPr>
              <a:t>0.76s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Directly targets the challenge's exponential latency bonus L_i = 10·e^(−0.5·proc_i)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Results — Headline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Cross-episode mean final score: </a:t>
            </a:r>
            <a:r>
              <a:rPr sz="2100" b="1">
                <a:solidFill>
                  <a:srgbClr val="555555"/>
                </a:solidFill>
                <a:latin typeface="Calibri"/>
              </a:rPr>
              <a:t>40.14 ± 0.85 / 45</a:t>
            </a:r>
            <a:r>
              <a:rPr sz="2100" b="0">
                <a:solidFill>
                  <a:srgbClr val="555555"/>
                </a:solidFill>
                <a:latin typeface="Calibri"/>
              </a:rPr>
              <a:t> (Rev16, submission config)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Per-window breakdown (episode 27, 5 windows): avg B_i = 24.4, K_i = 6.0 (ceiling), L_i = 6.65, avg proc = 0.82s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With Janus +4 bonus: </a:t>
            </a:r>
            <a:r>
              <a:rPr sz="2100" b="1">
                <a:solidFill>
                  <a:srgbClr val="555555"/>
                </a:solidFill>
                <a:latin typeface="Calibri"/>
              </a:rPr>
              <a:t>41.09</a:t>
            </a:r>
            <a:r>
              <a:rPr sz="2100" b="0">
                <a:solidFill>
                  <a:srgbClr val="555555"/>
                </a:solidFill>
                <a:latin typeface="Calibri"/>
              </a:rPr>
              <a:t> for this episode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Results — Cross-Domain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IETF125 technical meeting sessions (out-of-domain from the podcast-tuned pipeline): mean score </a:t>
            </a:r>
            <a:r>
              <a:rPr sz="2100" b="1">
                <a:solidFill>
                  <a:srgbClr val="555555"/>
                </a:solidFill>
                <a:latin typeface="Calibri"/>
              </a:rPr>
              <a:t>40.22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Closely tracks the Rev16 podcast mean (40.14)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Results — Does ASR Accuracy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small.en: WER 0.259 → final score </a:t>
            </a:r>
            <a:r>
              <a:rPr sz="2100" b="1">
                <a:solidFill>
                  <a:srgbClr val="555555"/>
                </a:solidFill>
                <a:latin typeface="Calibri"/>
              </a:rPr>
              <a:t>40.44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large-v3-turbo: WER 0.252 → final score 40.14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The lower-WER model scores marginally lower overall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Results — Model-Size &amp; Cross-Family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30B5C5"/>
                </a:solidFill>
              </a:rPr>
              <a:t>▸  </a:t>
            </a:r>
            <a:r>
              <a:rPr sz="1500" b="0">
                <a:solidFill>
                  <a:srgbClr val="555555"/>
                </a:solidFill>
                <a:latin typeface="Calibri"/>
              </a:rPr>
              <a:t>AWQ int4 cuts latency ~35% at 4B with essentially flat B_i + K_i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30B5C5"/>
                </a:solidFill>
              </a:rPr>
              <a:t>▸  </a:t>
            </a:r>
            <a:r>
              <a:rPr sz="1500" b="0">
                <a:solidFill>
                  <a:srgbClr val="555555"/>
                </a:solidFill>
                <a:latin typeface="Calibri"/>
              </a:rPr>
              <a:t>K_i sits at ceiling (6.0) for every configuration — the keyword guarantee holds regardless of summarizer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6647" y="2148840"/>
          <a:ext cx="10058400" cy="3428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188720"/>
                <a:gridCol w="1051560"/>
                <a:gridCol w="1188720"/>
                <a:gridCol w="1234440"/>
                <a:gridCol w="960120"/>
                <a:gridCol w="1965960"/>
              </a:tblGrid>
              <a:tr h="489857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marT="27432" marB="27432">
                    <a:solidFill>
                      <a:srgbClr val="59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B_i (/25)</a:t>
                      </a:r>
                    </a:p>
                  </a:txBody>
                  <a:tcPr marL="54864" marR="54864" marT="27432" marB="27432">
                    <a:solidFill>
                      <a:srgbClr val="59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K_i (/6)</a:t>
                      </a:r>
                    </a:p>
                  </a:txBody>
                  <a:tcPr marL="54864" marR="54864" marT="27432" marB="27432">
                    <a:solidFill>
                      <a:srgbClr val="59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L_i (/10)</a:t>
                      </a:r>
                    </a:p>
                  </a:txBody>
                  <a:tcPr marL="54864" marR="54864" marT="27432" marB="27432">
                    <a:solidFill>
                      <a:srgbClr val="59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proc_i (s)</a:t>
                      </a:r>
                    </a:p>
                  </a:txBody>
                  <a:tcPr marL="54864" marR="54864" marT="27432" marB="27432">
                    <a:solidFill>
                      <a:srgbClr val="59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Janus</a:t>
                      </a:r>
                    </a:p>
                  </a:txBody>
                  <a:tcPr marL="54864" marR="54864" marT="27432" marB="27432">
                    <a:solidFill>
                      <a:srgbClr val="5957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Total (/45)</a:t>
                      </a:r>
                    </a:p>
                  </a:txBody>
                  <a:tcPr marL="54864" marR="54864" marT="27432" marB="27432">
                    <a:solidFill>
                      <a:srgbClr val="595757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595757"/>
                          </a:solidFill>
                          <a:latin typeface="Calibri"/>
                        </a:rPr>
                        <a:t>Qwen3.5-4B-AWQ (submission)</a:t>
                      </a:r>
                    </a:p>
                  </a:txBody>
                  <a:tcPr marL="54864" marR="54864" marT="27432" marB="27432">
                    <a:solidFill>
                      <a:srgbClr val="E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95757"/>
                          </a:solidFill>
                          <a:latin typeface="Calibri"/>
                        </a:rPr>
                        <a:t>23.3</a:t>
                      </a:r>
                    </a:p>
                  </a:txBody>
                  <a:tcPr marL="54864" marR="54864" marT="27432" marB="27432">
                    <a:solidFill>
                      <a:srgbClr val="E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95757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27432" marB="27432">
                    <a:solidFill>
                      <a:srgbClr val="E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95757"/>
                          </a:solidFill>
                          <a:latin typeface="Calibri"/>
                        </a:rPr>
                        <a:t>6.84</a:t>
                      </a:r>
                    </a:p>
                  </a:txBody>
                  <a:tcPr marL="54864" marR="54864" marT="27432" marB="27432">
                    <a:solidFill>
                      <a:srgbClr val="E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95757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54864" marR="54864" marT="27432" marB="27432">
                    <a:solidFill>
                      <a:srgbClr val="E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95757"/>
                          </a:solidFill>
                          <a:latin typeface="Calibri"/>
                        </a:rPr>
                        <a:t>+4.0</a:t>
                      </a:r>
                    </a:p>
                  </a:txBody>
                  <a:tcPr marL="54864" marR="54864" marT="27432" marB="27432">
                    <a:solidFill>
                      <a:srgbClr val="E3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595757"/>
                          </a:solidFill>
                          <a:latin typeface="Calibri"/>
                        </a:rPr>
                        <a:t>40.14 ± 0.85</a:t>
                      </a:r>
                    </a:p>
                  </a:txBody>
                  <a:tcPr marL="54864" marR="54864" marT="27432" marB="27432">
                    <a:solidFill>
                      <a:srgbClr val="E3F6F8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Qwen3.5-4B-BF16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23.2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5.77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~1.10†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+4.0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38.97 ± 0.91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Qwen3.5-9B-AWQ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23.0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4.15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~1.76†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+4.0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37.15 ± 1.53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Qwen3.5-9B-BF16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23.2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2.92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2.51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+4.0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36.12 ± 1.42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Gemma-3-12B-IT-AWQ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22.1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3.55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2.07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+4.0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35.63 ± 1.06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Llama-3.1-8B-Instruct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18.4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3.92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~1.87†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+4.0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Calibri"/>
                        </a:rPr>
                        <a:t>32.31 ± 4.59</a:t>
                      </a:r>
                    </a:p>
                  </a:txBody>
                  <a:tcPr marL="54864" marR="54864" marT="27432" marB="27432"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99"/>
                </a:solidFill>
              </a:rPr>
              <a:t>† proc_i not stated directly in the paper's prose for this row — derived by inverting L_i = 10·e^(−0.5·proc_i) against the reported L_i.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Ablations are qualitative, not isolated toggle-off experiments — can't cleanly separate the contribution of dedup vs. keyword-guarantee vs. prompt engineering individually (flagged by both reviewers)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Hallucination filter is a fixed 22-pattern list — blind to novel or semantic hallucinations outside it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30B5C5"/>
                </a:solidFill>
              </a:rPr>
              <a:t>▸  </a:t>
            </a:r>
            <a:r>
              <a:rPr sz="2100" b="0">
                <a:solidFill>
                  <a:srgbClr val="555555"/>
                </a:solidFill>
                <a:latin typeface="Calibri"/>
              </a:rPr>
              <a:t>Novel-extractor's exact-match approach can misalign under heavy disfluency or noisy overlap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595757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Real-time, quality-gated, sub-second summarization pipeline</a:t>
            </a:r>
          </a:p>
          <a:p>
            <a:pPr algn="ctr">
              <a:spcAft>
                <a:spcPts val="20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40.14/45 cross-episode mean · generalizes to a second domain (IETF125: 40.22)</a:t>
            </a:r>
          </a:p>
          <a:p>
            <a:pPr algn="ctr">
              <a:spcAft>
                <a:spcPts val="2000"/>
              </a:spcAft>
            </a:pPr>
            <a:r>
              <a:rPr sz="1600" b="1">
                <a:solidFill>
                  <a:srgbClr val="30B5C5"/>
                </a:solidFill>
                <a:latin typeface="Calibri"/>
              </a:rPr>
              <a:t>Open source: github.com/streaming-university/streamind</a:t>
            </a:r>
          </a:p>
          <a:p>
            <a:pPr algn="ctr">
              <a:spcAft>
                <a:spcPts val="2000"/>
              </a:spcAft>
            </a:pPr>
            <a:r>
              <a:rPr sz="2200" b="1">
                <a:solidFill>
                  <a:srgbClr val="ED6D00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B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95757"/>
                </a:solidFill>
                <a:latin typeface="Calibri"/>
              </a:rPr>
              <a:t>Evaluation Methodology — LLM-as-a-Judge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B_i and K_i are LLM-judged — no ground-truth reference summary exists, so scoring follows the </a:t>
            </a:r>
            <a:r>
              <a:rPr sz="1900" b="1">
                <a:solidFill>
                  <a:srgbClr val="555555"/>
                </a:solidFill>
                <a:latin typeface="Calibri"/>
              </a:rPr>
              <a:t>G-Eval</a:t>
            </a:r>
            <a:r>
              <a:rPr sz="1900" b="0">
                <a:solidFill>
                  <a:srgbClr val="555555"/>
                </a:solidFill>
                <a:latin typeface="Calibri"/>
              </a:rPr>
              <a:t> LLM-as-judge paradigm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1">
                <a:solidFill>
                  <a:srgbClr val="555555"/>
                </a:solidFill>
                <a:latin typeface="Calibri"/>
              </a:rPr>
              <a:t>Cross-family judge panel</a:t>
            </a:r>
            <a:r>
              <a:rPr sz="1900" b="0">
                <a:solidFill>
                  <a:srgbClr val="555555"/>
                </a:solidFill>
                <a:latin typeface="Calibri"/>
              </a:rPr>
              <a:t>: Mistral-Small-24B-Instruct, Phi-4, Gemma-3-27B-IT (all int4-AWQ) — deliberately excludes the Qwen family (the summarizer's own family) to avoid self-evaluation bias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Each judge scores every summary against the same 5 Likert criteria the challenge defines for B_i, plus a per-keyword boolean relevance flag for K_i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Judges run </a:t>
            </a:r>
            <a:r>
              <a:rPr sz="1900" b="1">
                <a:solidFill>
                  <a:srgbClr val="555555"/>
                </a:solidFill>
                <a:latin typeface="Calibri"/>
              </a:rPr>
              <a:t>sequentially</a:t>
            </a:r>
            <a:r>
              <a:rPr sz="1900" b="0">
                <a:solidFill>
                  <a:srgbClr val="555555"/>
                </a:solidFill>
                <a:latin typeface="Calibri"/>
              </a:rPr>
              <a:t>, isolated subprocesses, VRAM reclaimed between loads — single 24GB dev GPU can't host all three at once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Every configuration run </a:t>
            </a:r>
            <a:r>
              <a:rPr sz="1900" b="1">
                <a:solidFill>
                  <a:srgbClr val="555555"/>
                </a:solidFill>
                <a:latin typeface="Calibri"/>
              </a:rPr>
              <a:t>≥3 times</a:t>
            </a:r>
            <a:r>
              <a:rPr sz="1900" b="0">
                <a:solidFill>
                  <a:srgbClr val="555555"/>
                </a:solidFill>
                <a:latin typeface="Calibri"/>
              </a:rPr>
              <a:t> to absorb judge non-determinism; reported numbers are means ± standard deviation across runs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30B5C5"/>
                </a:solidFill>
              </a:rPr>
              <a:t>▸  </a:t>
            </a:r>
            <a:r>
              <a:rPr sz="1900" b="0">
                <a:solidFill>
                  <a:srgbClr val="555555"/>
                </a:solidFill>
                <a:latin typeface="Calibri"/>
              </a:rPr>
              <a:t>Panel consensus = mean ± std </a:t>
            </a:r>
            <a:r>
              <a:rPr sz="1900" b="1">
                <a:solidFill>
                  <a:srgbClr val="555555"/>
                </a:solidFill>
                <a:latin typeface="Calibri"/>
              </a:rPr>
              <a:t>across the 3 judges</a:t>
            </a:r>
            <a:r>
              <a:rPr sz="1900" b="0">
                <a:solidFill>
                  <a:srgbClr val="555555"/>
                </a:solidFill>
                <a:latin typeface="Calibri"/>
              </a:rPr>
              <a:t> too — low dispersion → confidence, high dispersion → flags judge-specific bias, treated with caution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STREAMIND — IEEE MMSP 2026 Grand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